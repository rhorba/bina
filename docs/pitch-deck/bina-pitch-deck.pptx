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39"/>
                </a:solidFill>
                <a:latin typeface="IBM Plex Sans"/>
              </a:rPr>
              <a:t>PITCH DECK  ·  V0.1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IBM Plex Sans"/>
              </a:rPr>
              <a:t>Bina </a:t>
            </a:r>
            <a:r>
              <a:rPr sz="5200" b="1">
                <a:solidFill>
                  <a:srgbClr val="E07B39"/>
                </a:solidFill>
                <a:latin typeface="Noto Kufi Arabic"/>
              </a:rPr>
              <a:t>بناء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E8E9EC"/>
                </a:solidFill>
                <a:latin typeface="IBM Plex Sans"/>
              </a:rPr>
              <a:t>Trouvez les marchés. Formez votre équipe. Gagnez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9C2CF"/>
                </a:solidFill>
                <a:latin typeface="IBM Plex Sans"/>
              </a:rPr>
              <a:t>La première plateforme construite pour les PME du BTP marocain — veille des marchés publics, formation de groupements, et conformité réglementaire.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2926080" cy="254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BM Plex Sans"/>
              </a:rPr>
              <a:t>bina.ma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6A6"/>
                </a:solidFill>
                <a:latin typeface="IBM Plex Sans"/>
              </a:rPr>
              <a:t>Construit avec Claude Code · Données HCP, Médias24, Bati.ma, FNBTP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Le boom de la construction marocaine contourne les PME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60604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5F"/>
                </a:solidFill>
                <a:latin typeface="IBM Plex Sans"/>
              </a:rPr>
              <a:t>550 Md 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IBM Plex Sans"/>
              </a:rPr>
              <a:t>d'investissements construction cumulés 2024–2030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47288" y="1600200"/>
            <a:ext cx="260604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5F"/>
                </a:solidFill>
                <a:latin typeface="IBM Plex Sans"/>
              </a:rPr>
              <a:t>380 Md 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651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IBM Plex Sans"/>
              </a:rPr>
              <a:t>investissement public — Loi de Finances 2026, un record historique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600200"/>
            <a:ext cx="260604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202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5F"/>
                </a:solidFill>
                <a:latin typeface="IBM Plex Sans"/>
              </a:rPr>
              <a:t>1,24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651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IBM Plex Sans"/>
              </a:rPr>
              <a:t>travailleurs BTP — 6% du PIB, +4,1% de croissance en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6002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61704" y="1600200"/>
            <a:ext cx="260604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9202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5F"/>
                </a:solidFill>
                <a:latin typeface="IBM Plex Sans"/>
              </a:rPr>
              <a:t>2,8 Md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65176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IBM Plex Sans"/>
              </a:rPr>
              <a:t>impact économique projeté de la Coupe du Monde 2030 + 335 000 emplois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430"/>
                </a:solidFill>
                <a:latin typeface="IBM Plex Sans"/>
              </a:rPr>
              <a:t>Mais 6 grands groupes captent l'essentiel des grands marchés. Les PME font face à 3 blocages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marchespublics.gov.ma est inexploitable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200+ AO/semaine, aucun filtrage intelligent ; 10–15h/semaine de veille manuelle.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Les gros marchés exigent des groupements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qui ne se forment pas d'eux-mêmes ; aucun mécanisme pour trouver des partenaires complémentaires.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Les dossiers de conformité bloquent les PME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attestation fiscale, quitus CNSS, assurance décennale... des jours à rassembler à chaque candidature.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Le problème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POSITIONNEMENT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3000" i="1">
                <a:solidFill>
                  <a:srgbClr val="C7CED8"/>
                </a:solidFill>
                <a:latin typeface="IBM Plex Sans"/>
              </a:rPr>
              <a:t>marchespublics.gov.ma vous dit ce qui existe.
</a:t>
            </a:r>
          </a:p>
          <a:p>
            <a:pPr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IBM Plex Sans"/>
              </a:rPr>
              <a:t>Bina vous dit ce que vous pouvez gagner —</a:t>
            </a:r>
          </a:p>
          <a:p>
            <a:pPr>
              <a:lnSpc>
                <a:spcPct val="120000"/>
              </a:lnSpc>
            </a:pPr>
            <a:r>
              <a:rPr sz="3400" b="1">
                <a:solidFill>
                  <a:srgbClr val="E07B39"/>
                </a:solidFill>
                <a:latin typeface="IBM Plex Sans"/>
              </a:rPr>
              <a:t>et vous connecte aux partenaires pour le gagner.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Positionnement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Trois modules, un seul flux de travail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2900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IBM Plex San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3A5F"/>
                </a:solidFill>
                <a:latin typeface="IBM Plex Sans"/>
              </a:rPr>
              <a:t>Tender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278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B39"/>
                </a:solidFill>
                <a:latin typeface="IBM Plex Sans"/>
              </a:rPr>
              <a:t>Veille Marchés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880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IBM Plex Sans"/>
              </a:rPr>
              <a:t>Agrège et filtre marchespublics.gov.ma : alertes intelligentes par métier, région, budget. Remplace 10–15h/semaine de veille manuelle.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42900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IBM Plex San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3A5F"/>
                </a:solidFill>
                <a:latin typeface="IBM Plex Sans"/>
              </a:rPr>
              <a:t>Groupement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278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B39"/>
                </a:solidFill>
                <a:latin typeface="IBM Plex Sans"/>
              </a:rPr>
              <a:t>Formation d'équipe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03320"/>
            <a:ext cx="2880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IBM Plex Sans"/>
              </a:rPr>
              <a:t>Le différenciateur — rien de tel n'existe au Maroc. Trouvez des partenaires complémentaires et formez un groupement conforme à la loi.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91640"/>
            <a:ext cx="342900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96596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IBM Plex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3A5F"/>
                </a:solidFill>
                <a:latin typeface="IBM Plex Sans"/>
              </a:rPr>
              <a:t>Compliance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278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7B39"/>
                </a:solidFill>
                <a:latin typeface="IBM Plex Sans"/>
              </a:rPr>
              <a:t>Dossier Réglementaire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03320"/>
            <a:ext cx="2880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IBM Plex Sans"/>
              </a:rPr>
              <a:t>Coffre-fort documentaire, suivi des expirations, générateur de dossier automatique. Des jours réduits à quelques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La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07B39"/>
                </a:solidFill>
                <a:latin typeface="IBM Plex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IBM Plex Sans"/>
              </a:rPr>
              <a:t>Tender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39"/>
                </a:solidFill>
                <a:latin typeface="IBM Plex Sans"/>
              </a:rPr>
              <a:t>Veille Marchés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2CF"/>
                </a:solidFill>
                <a:latin typeface="IBM Plex Sans"/>
              </a:rPr>
              <a:t>Module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77724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Flux agrégé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scraping + parsing de marchespublics.gov.ma → base structurée : échéance, budget, région, maître d'ouvrage, lots, métiers requis.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Filtrage intelligent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par métier (plomberie, électricité, génie civil...), région, budget (&lt; 1M / 1–5M / 5–20M / &gt; 20M MAD), type, maître d'ouvrage.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Recherches sauvegardées + alertes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"Nouvelle AO : plomberie, Casablanca, 2–8M MAD" en email/in-app dès publication.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Compte à rebours d'échéance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tableau de bord personnel, rouge &lt; 7 j, orange &lt; 14 j.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Détection de découpage en lots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signale les AO scindées en lots qu'une PME peut remporter seule.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Tender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07B39"/>
                </a:solidFill>
                <a:latin typeface="IBM Plex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IBM Plex Sans"/>
              </a:rPr>
              <a:t>Groupement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39"/>
                </a:solidFill>
                <a:latin typeface="IBM Plex Sans"/>
              </a:rPr>
              <a:t>Formation d'équipe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2CF"/>
                </a:solidFill>
                <a:latin typeface="IBM Plex Sans"/>
              </a:rPr>
              <a:t>Module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77724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Annonces de groupement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"Je cherche un partenaire électricité pour l'AO [X], ma part ~3M MAD, délai 6 mois — qui est intéressé ?"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Annuaire des métiers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PME vérifiées par spécialité, région et capacité (références).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Suggestions de correspondance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"Cette AO exige 5 métiers. Vous couvrez la plomberie. 3 entreprises couvrent les autres lots. Former un groupement ?"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Espace de travail du groupement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documents partagés, répartition des tâches, suivi de contribution, messagerie.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Statuts suivis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en formation → constitué → candidature déposée → résultat, avec un mandataire unique conforme au Décret 2-12-349.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Groupement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07B39"/>
                </a:solidFill>
                <a:latin typeface="IBM Plex Sa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IBM Plex Sans"/>
              </a:rPr>
              <a:t>Compliance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39"/>
                </a:solidFill>
                <a:latin typeface="IBM Plex Sans"/>
              </a:rPr>
              <a:t>Dossier Réglementaire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2CF"/>
                </a:solidFill>
                <a:latin typeface="IBM Plex Sans"/>
              </a:rPr>
              <a:t>Module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777240"/>
            <a:ext cx="7589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Coffre-fort documentaire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attestation fiscale, quitus CNSS, déclaration sur l'honneur, assurance décennale, références — stockage privé R2, URLs signées 15 min.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Suivi d'expiration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alertes 15 jours avant échéance ; aucun document expiré découvert au dépôt d'une candidature.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Score de conformité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complétude du profil affichée de 0 à 100 %, visible avant de s'engager sur un marché.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Générateur de dossier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sélectionnez un marché → liste des documents requis générée automatiquement, pré-remplie depuis le coffre-fort.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500" b="1">
                <a:solidFill>
                  <a:srgbClr val="1B2430"/>
                </a:solidFill>
                <a:latin typeface="IBM Plex Sans"/>
              </a:rPr>
              <a:t>Aucune fausse garantie — </a:t>
            </a:r>
            <a:r>
              <a:rPr sz="1500" b="0">
                <a:solidFill>
                  <a:srgbClr val="1B2430"/>
                </a:solidFill>
                <a:latin typeface="IBM Plex Sans"/>
              </a:rPr>
              <a:t>Bina organise les documents mais ne certifie jamais la conformité d'un contractant — disclaimer clair sur chaque dossier.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Compliance 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POURQUOI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La fenêtre Coupe du Monde 2030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47672"/>
            <a:ext cx="220370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07B39"/>
                </a:solidFill>
                <a:latin typeface="IBM Plex Sans"/>
              </a:rPr>
              <a:t>96 Md MAD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60320"/>
            <a:ext cx="2203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7EC"/>
                </a:solidFill>
                <a:latin typeface="IBM Plex Sans"/>
              </a:rPr>
              <a:t>Ferroviaire seul — TGV + 150 trains + 40 nouvelles gares d'ici 2030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916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947672"/>
            <a:ext cx="220370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07B39"/>
                </a:solidFill>
                <a:latin typeface="IBM Plex Sans"/>
              </a:rPr>
              <a:t>3,8 Md 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560320"/>
            <a:ext cx="2203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7EC"/>
                </a:solidFill>
                <a:latin typeface="IBM Plex Sans"/>
              </a:rPr>
              <a:t>Prêt BAD pour les infrastructures Mondial, + 7 Md MAD de pipeline additionnel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6916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47672"/>
            <a:ext cx="220370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07B39"/>
                </a:solidFill>
                <a:latin typeface="IBM Plex Sans"/>
              </a:rPr>
              <a:t>+3,8% AAGR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560320"/>
            <a:ext cx="2203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7EC"/>
                </a:solidFill>
                <a:latin typeface="IBM Plex Sans"/>
              </a:rPr>
              <a:t>Croissance prévisionnelle du secteur BTP 2026–2029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1704" y="1691640"/>
            <a:ext cx="26060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2" y="1947672"/>
            <a:ext cx="220370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07B39"/>
                </a:solidFill>
                <a:latin typeface="IBM Plex Sans"/>
              </a:rPr>
              <a:t>335 000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560320"/>
            <a:ext cx="2203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3E7EC"/>
                </a:solidFill>
                <a:latin typeface="IBM Plex Sans"/>
              </a:rPr>
              <a:t>Emplois projetés par l'impact économique de la Coupe du Monde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1B2430"/>
                </a:solidFill>
                <a:latin typeface="IBM Plex Sans"/>
              </a:rPr>
              <a:t>Ce cycle d'investissement historique se produit une fois par génération. Les PME qui structurent aujourd'hui leur veille, leurs partenariats et leur conformité seront celles qui captent la vague — les autres regarderont les 6 grands groupes absorber les marchés comme toujours.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Pourquoi maintenant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DIFFÉRENCIATION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Ce que fait Bina que le statu quo ne fait pas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4206240"/>
                <a:gridCol w="3840480"/>
              </a:tblGrid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IBM Plex Sans"/>
                        </a:rPr>
                        <a:t>Statu quo (portail + réseau perso)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IBM Plex Sans"/>
                        </a:rPr>
                        <a:t>Bina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IBM Plex Sans"/>
                        </a:rPr>
                        <a:t>Filtrage des AO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B7280"/>
                          </a:solidFill>
                          <a:latin typeface="IBM Plex Sans"/>
                        </a:rPr>
                        <a:t>Manuel, chronophage (10–15h/sem)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07B39"/>
                          </a:solidFill>
                          <a:latin typeface="IBM Plex Sans"/>
                        </a:rPr>
                        <a:t>Automatique, par métier/région/budget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IBM Plex Sans"/>
                        </a:rPr>
                        <a:t>Alertes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B7280"/>
                          </a:solidFill>
                          <a:latin typeface="IBM Plex Sans"/>
                        </a:rPr>
                        <a:t>Aucune — vérification manuelle quotidienne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07B39"/>
                          </a:solidFill>
                          <a:latin typeface="IBM Plex Sans"/>
                        </a:rPr>
                        <a:t>Email + in-app en temps réel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IBM Plex Sans"/>
                        </a:rPr>
                        <a:t>Formation de groupement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B7280"/>
                          </a:solidFill>
                          <a:latin typeface="IBM Plex Sans"/>
                        </a:rPr>
                        <a:t>Réseau personnel, ad hoc, lent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07B39"/>
                          </a:solidFill>
                          <a:latin typeface="IBM Plex Sans"/>
                        </a:rPr>
                        <a:t>Annuaire vérifié + suggestions automatiques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IBM Plex Sans"/>
                        </a:rPr>
                        <a:t>Dossier de conformité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B7280"/>
                          </a:solidFill>
                          <a:latin typeface="IBM Plex Sans"/>
                        </a:rPr>
                        <a:t>Reconstruit à chaque candidature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07B39"/>
                          </a:solidFill>
                          <a:latin typeface="IBM Plex Sans"/>
                        </a:rPr>
                        <a:t>Coffre-fort + générateur automatique</a:t>
                      </a:r>
                    </a:p>
                  </a:txBody>
                  <a:tcPr anchor="ctr" marL="109728" marR="109728">
                    <a:solidFill>
                      <a:srgbClr val="F0EEEA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IBM Plex Sans"/>
                        </a:rPr>
                        <a:t>Suivi des échéances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B7280"/>
                          </a:solidFill>
                          <a:latin typeface="IBM Plex Sans"/>
                        </a:rPr>
                        <a:t>Agenda personnel, risque d'oubli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07B39"/>
                          </a:solidFill>
                          <a:latin typeface="IBM Plex Sans"/>
                        </a:rPr>
                        <a:t>Compte à rebours visuel sur chaque AO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Différenciation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FONDATIONS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IBM Plex Sans"/>
              </a:rPr>
              <a:t>Construit pour la fiabilité et la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Produit &amp;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Next.js 15 + TypeScript strict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rendu SSR des pages publiques d'AO pour le SEO organique.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PostgreSQL 16 + Drizzle + RLS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isolation stricte des rôles au niveau base de données.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Playwright scraper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respecte marchespublics.gov.ma : 1 requête/3s, nightly only, fallback CSV manuel.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Cloudflare R2 privé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documents de conformité, URLs signées 15 min, accès audité.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Sécurité &amp;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Deux rôles seulement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contractant / admin. Pas de flux d'argent — Bina est un outil SaaS, jamais intermédiaire.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i18n FR/AR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RTL obligatoire et traité à égalité, pas en traduction de second rang.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Couverture de tests ≥ 80%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Vitest + Playwright, seuil appliqué en CI, jamais abaissé.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 b="1">
                <a:solidFill>
                  <a:srgbClr val="E3E7EC"/>
                </a:solidFill>
                <a:latin typeface="IBM Plex Sans"/>
              </a:rPr>
              <a:t>CI/CD GitHub Actions — </a:t>
            </a:r>
            <a:r>
              <a:rPr sz="1350" b="0">
                <a:solidFill>
                  <a:srgbClr val="E3E7EC"/>
                </a:solidFill>
                <a:latin typeface="IBM Plex Sans"/>
              </a:rPr>
              <a:t>chaque push est vérifié, aucune fonctionnalité n'est "terminée" tant que le pipeline n'est pas vert.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Fondations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IDENTITÉ DE MARQUE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Ton pratique, ni startup ni portail administratif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Palette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554480" cy="155448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2430"/>
                </a:solidFill>
                <a:latin typeface="IBM Plex Sans"/>
              </a:rPr>
              <a:t>Steel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#1E3A5F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148840"/>
            <a:ext cx="1554480" cy="155448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7947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2430"/>
                </a:solidFill>
                <a:latin typeface="IBM Plex Sans"/>
              </a:rPr>
              <a:t>Construction 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4114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#E07B39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48840"/>
            <a:ext cx="1554480" cy="1554480"/>
          </a:xfrm>
          <a:prstGeom prst="roundRect">
            <a:avLst>
              <a:gd name="adj" fmla="val 12000"/>
            </a:avLst>
          </a:prstGeom>
          <a:solidFill>
            <a:srgbClr val="F4F2E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7947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2430"/>
                </a:solidFill>
                <a:latin typeface="IBM Plex Sans"/>
              </a:rPr>
              <a:t>Concrete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114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#F4F2EF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Typographie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3A5F"/>
                </a:solidFill>
                <a:latin typeface="IBM Plex Sans"/>
              </a:rPr>
              <a:t>IBM Plex Sans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3A5F"/>
                </a:solidFill>
                <a:latin typeface="Noto Kufi Arabic"/>
              </a:rPr>
              <a:t>بناء — Noto Kufi Arabic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Voix éditoriale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>
                <a:solidFill>
                  <a:srgbClr val="1B2430"/>
                </a:solidFill>
                <a:latin typeface="IBM Plex Sans"/>
              </a:rPr>
              <a:t>Pratique, professionnel, entre pairs — l'énergie d'un confrère du BTP, pas d'un discours startup.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>
                <a:solidFill>
                  <a:srgbClr val="1B2430"/>
                </a:solidFill>
                <a:latin typeface="IBM Plex Sans"/>
              </a:rPr>
              <a:t>Ni le hype de la tech, ni la rigidité d'un portail gouvernemental.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>
                <a:solidFill>
                  <a:srgbClr val="1B2430"/>
                </a:solidFill>
                <a:latin typeface="IBM Plex Sans"/>
              </a:rPr>
              <a:t>« Bina » — بناء, "construction" en darija : compris immédiatement par tout le secteur.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50">
                <a:solidFill>
                  <a:srgbClr val="1B2430"/>
                </a:solidFill>
                <a:latin typeface="IBM Plex Sans"/>
              </a:rPr>
              <a:t>Signal d'urgence constant : compte à rebours d'échéance visible partout, rouge &lt; 7 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Identité de marque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SaaS par abonnement — jamais intermédiaire financier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Abonnement SaaS mensuel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facturé par compte contractant ; paliers par taille d'entreprise (à définir selon pilote).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Aucune commission sur marché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Bina ne prend jamais de marge sur un contrat gagné — outil, pas agent de marché.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Aucun flux d'argent entre PME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les transactions de groupement restent hors plateforme, conformément au cadre légal.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450" b="1">
                <a:solidFill>
                  <a:srgbClr val="1B2430"/>
                </a:solidFill>
                <a:latin typeface="IBM Plex Sans"/>
              </a:rPr>
              <a:t>Acquisition organique — </a:t>
            </a:r>
            <a:r>
              <a:rPr sz="1450" b="0">
                <a:solidFill>
                  <a:srgbClr val="1B2430"/>
                </a:solidFill>
                <a:latin typeface="IBM Plex Sans"/>
              </a:rPr>
              <a:t>les pages publiques d'AO (SSR, sans compte) servent de moteur SEO — le premier contact est gratuit et utile.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3736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B39"/>
                </a:solidFill>
                <a:latin typeface="IBM Plex Sans"/>
              </a:rPr>
              <a:t>CE QUE BINA NE FAIT JAMAIS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4231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00">
                <a:solidFill>
                  <a:srgbClr val="E3E7EC"/>
                </a:solidFill>
                <a:latin typeface="IBM Plex Sans"/>
              </a:rPr>
              <a:t>Ne certifie jamais qu'un contractant est conforme.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00">
                <a:solidFill>
                  <a:srgbClr val="E3E7EC"/>
                </a:solidFill>
                <a:latin typeface="IBM Plex Sans"/>
              </a:rPr>
              <a:t>Ne fait jamais transiter d'argent de marché.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00">
                <a:solidFill>
                  <a:srgbClr val="E3E7EC"/>
                </a:solidFill>
                <a:latin typeface="IBM Plex Sans"/>
              </a:rPr>
              <a:t>Ne prend jamais de commission sur une candidature gagnée.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300">
                <a:solidFill>
                  <a:srgbClr val="E3E7EC"/>
                </a:solidFill>
                <a:latin typeface="IBM Plex Sans"/>
              </a:rPr>
              <a:t>Ne remplace jamais le maître d'ouvrage dans l'évaluation.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Modèle économique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v0.1 livré — sprint par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463" y="2606040"/>
            <a:ext cx="10716768" cy="31750"/>
          </a:xfrm>
          <a:prstGeom prst="rect">
            <a:avLst/>
          </a:prstGeom>
          <a:solidFill>
            <a:srgbClr val="3F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1239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463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3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Scaffold, Auth, RBAC, RLS, Docker</a:t>
            </a:r>
          </a:p>
        </p:txBody>
      </p:sp>
      <p:sp>
        <p:nvSpPr>
          <p:cNvPr id="8" name="Oval 7"/>
          <p:cNvSpPr/>
          <p:nvPr/>
        </p:nvSpPr>
        <p:spPr>
          <a:xfrm>
            <a:off x="2584551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0775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3615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Modèle de données, profils, références</a:t>
            </a:r>
          </a:p>
        </p:txBody>
      </p:sp>
      <p:sp>
        <p:nvSpPr>
          <p:cNvPr id="11" name="Oval 10"/>
          <p:cNvSpPr/>
          <p:nvPr/>
        </p:nvSpPr>
        <p:spPr>
          <a:xfrm>
            <a:off x="3937863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4087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6927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Scraper + veille des marchés (SSR)</a:t>
            </a:r>
          </a:p>
        </p:txBody>
      </p:sp>
      <p:sp>
        <p:nvSpPr>
          <p:cNvPr id="14" name="Oval 13"/>
          <p:cNvSpPr/>
          <p:nvPr/>
        </p:nvSpPr>
        <p:spPr>
          <a:xfrm>
            <a:off x="5291175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7399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0239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Alertes + suivi des échéances</a:t>
            </a:r>
          </a:p>
        </p:txBody>
      </p:sp>
      <p:sp>
        <p:nvSpPr>
          <p:cNvPr id="17" name="Oval 16"/>
          <p:cNvSpPr/>
          <p:nvPr/>
        </p:nvSpPr>
        <p:spPr>
          <a:xfrm>
            <a:off x="6644487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0711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3551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Groupements — création à espace de travail</a:t>
            </a:r>
          </a:p>
        </p:txBody>
      </p:sp>
      <p:sp>
        <p:nvSpPr>
          <p:cNvPr id="20" name="Oval 19"/>
          <p:cNvSpPr/>
          <p:nvPr/>
        </p:nvSpPr>
        <p:spPr>
          <a:xfrm>
            <a:off x="7997799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4023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6863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Coffre-fort conformité + générateur dossier</a:t>
            </a:r>
          </a:p>
        </p:txBody>
      </p:sp>
      <p:sp>
        <p:nvSpPr>
          <p:cNvPr id="23" name="Oval 22"/>
          <p:cNvSpPr/>
          <p:nvPr/>
        </p:nvSpPr>
        <p:spPr>
          <a:xfrm>
            <a:off x="9351111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7335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0175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Notifications + i18n FR/AR + RTL</a:t>
            </a:r>
          </a:p>
        </p:txBody>
      </p:sp>
      <p:sp>
        <p:nvSpPr>
          <p:cNvPr id="26" name="Oval 25"/>
          <p:cNvSpPr/>
          <p:nvPr/>
        </p:nvSpPr>
        <p:spPr>
          <a:xfrm>
            <a:off x="10704423" y="2496312"/>
            <a:ext cx="256032" cy="256032"/>
          </a:xfrm>
          <a:prstGeom prst="ellipse">
            <a:avLst/>
          </a:prstGeom>
          <a:solidFill>
            <a:srgbClr val="3F8F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0647" y="1828800"/>
            <a:ext cx="1243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IBM Plex Sans"/>
              </a:rPr>
              <a:t>S7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3487" y="2926080"/>
            <a:ext cx="151790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IBM Plex Sans"/>
              </a:rPr>
              <a:t>Admin, durcissement sécurité, déploiement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463" y="4297680"/>
            <a:ext cx="10716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F8F5F"/>
                </a:solidFill>
                <a:latin typeface="IBM Plex Sans"/>
              </a:rPr>
              <a:t>✓ TOUS LIVRÉS — v0.1 SHIPPED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PROCHAIN — v0.2 backlog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250">
                <a:solidFill>
                  <a:srgbClr val="1B2430"/>
                </a:solidFill>
                <a:latin typeface="IBM Plex Sans"/>
              </a:rPr>
              <a:t>Application mobile (React Native)  ·  Assistant de rédaction d'AO par IA  ·  Marketplace sous-traitants &amp; matériel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250">
                <a:solidFill>
                  <a:srgbClr val="1B2430"/>
                </a:solidFill>
                <a:latin typeface="IBM Plex Sans"/>
              </a:rPr>
              <a:t>Intégration financement Crédit Agricole du Maroc  ·  Vérification temps réel DGI/CNSS  ·  v0.3 : marchés internationaux (BERD, BAD, IDA)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Feuille de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STATUT V0.1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IBM Plex Sans"/>
              </a:rPr>
              <a:t>20/20 critères de "Definition of Done" livrés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Auth contractant/admin + vérification email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Profil contractant : spécialités, régions, FNBTP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Scraper : base peuplée (40+ AO réelles/mock)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Veille publique filtrable, SSR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Détail AO structuré + échéance + lots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Recherches sauvegardées + alertes email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Suivi de candidature (watching/bidding/soumis)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Création de groupement par AO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Annuaire des groupements par métier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Rejoindre / quitter un groupement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Espace de travail groupement partagé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Coffre-fort de documents (R2 privé)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Suivi d'expiration + alertes 15 jours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Score de conformité 0–100%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Générateur automatique de dossier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Références de projets (profil public)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Notifications in-app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Emails transactionnels (Resend)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Dashboard admin : scraper, KPIs, groupements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8F5F"/>
                </a:solidFill>
                <a:latin typeface="IBM Plex Sans"/>
              </a:rPr>
              <a:t>✓  </a:t>
            </a:r>
            <a:r>
              <a:rPr sz="1250">
                <a:solidFill>
                  <a:srgbClr val="E3E7EC"/>
                </a:solidFill>
                <a:latin typeface="IBM Plex Sans"/>
              </a:rPr>
              <a:t>FR + AR + RTL complet · build/tests/lint verts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Statut 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39"/>
                </a:solidFill>
                <a:latin typeface="IBM Plex Sans"/>
              </a:rPr>
              <a:t>L'INVITATION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3A5F"/>
                </a:solidFill>
                <a:latin typeface="IBM Plex Sans"/>
              </a:rPr>
              <a:t>Rejoignez le lancement de Bina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6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600" b="1">
                <a:solidFill>
                  <a:srgbClr val="1B2430"/>
                </a:solidFill>
                <a:latin typeface="IBM Plex Sans"/>
              </a:rPr>
              <a:t>PME du BTP — </a:t>
            </a:r>
            <a:r>
              <a:rPr sz="1600" b="0">
                <a:solidFill>
                  <a:srgbClr val="1B2430"/>
                </a:solidFill>
                <a:latin typeface="IBM Plex Sans"/>
              </a:rPr>
              <a:t>rejoignez le programme pilote. Créez votre profil, activez vos alertes, testez le générateur de dossier sur votre prochaine candidature.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6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600" b="1">
                <a:solidFill>
                  <a:srgbClr val="1B2430"/>
                </a:solidFill>
                <a:latin typeface="IBM Plex Sans"/>
              </a:rPr>
              <a:t>Associations professionnelles &amp; FNBTP — </a:t>
            </a:r>
            <a:r>
              <a:rPr sz="1600" b="0">
                <a:solidFill>
                  <a:srgbClr val="1B2430"/>
                </a:solidFill>
                <a:latin typeface="IBM Plex Sans"/>
              </a:rPr>
              <a:t>devenez partenaire de distribution auprès de vos adhérents — Bina structure ce que vos membres font déjà manuellement.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600" b="1">
                <a:solidFill>
                  <a:srgbClr val="E07B39"/>
                </a:solidFill>
                <a:latin typeface="IBM Plex Sans"/>
              </a:rPr>
              <a:t>—  </a:t>
            </a:r>
            <a:r>
              <a:rPr sz="1600" b="1">
                <a:solidFill>
                  <a:srgbClr val="1B2430"/>
                </a:solidFill>
                <a:latin typeface="IBM Plex Sans"/>
              </a:rPr>
              <a:t>Investisseurs &amp; partenaires — </a:t>
            </a:r>
            <a:r>
              <a:rPr sz="1600" b="0">
                <a:solidFill>
                  <a:srgbClr val="1B2430"/>
                </a:solidFill>
                <a:latin typeface="IBM Plex Sans"/>
              </a:rPr>
              <a:t>le v0.1 est livré et testé ; la fenêtre Coupe du Monde 2030 est ouverte maintenant, pas dans deux 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BM Plex Sans"/>
              </a:rPr>
              <a:t>bina.ma  ·  hassan.plomberie@demo.bina.ma — accès démo disponible sur demande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7280"/>
                </a:solidFill>
                <a:latin typeface="IBM Plex Sans"/>
              </a:rPr>
              <a:t>Bina  —  بناء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L'invitation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IBM Plex San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IBM Plex Sans"/>
              </a:rPr>
              <a:t>Bina </a:t>
            </a:r>
            <a:r>
              <a:rPr sz="4200" b="1">
                <a:solidFill>
                  <a:srgbClr val="E07B39"/>
                </a:solidFill>
                <a:latin typeface="Noto Kufi Arabic"/>
              </a:rPr>
              <a:t>بناء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C7CED8"/>
                </a:solidFill>
                <a:latin typeface="IBM Plex Sans"/>
              </a:rPr>
              <a:t>Trouvez les marchés. Formez votre équipe. Gagnez ensemble.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7B39"/>
                </a:solidFill>
                <a:latin typeface="IBM Plex Sans"/>
              </a:rPr>
              <a:t>bina.ma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6A6"/>
                </a:solidFill>
                <a:latin typeface="IBM Plex Sans"/>
              </a:rPr>
              <a:t>Construit avec Claude Code · Sprint 0–7 · v0.1 shipped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